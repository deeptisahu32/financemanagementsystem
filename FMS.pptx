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3"/>
  </p:notesMasterIdLst>
  <p:handoutMasterIdLst>
    <p:handoutMasterId r:id="rId24"/>
  </p:handoutMasterIdLst>
  <p:sldIdLst>
    <p:sldId id="410" r:id="rId5"/>
    <p:sldId id="383" r:id="rId6"/>
    <p:sldId id="427" r:id="rId7"/>
    <p:sldId id="422" r:id="rId8"/>
    <p:sldId id="428" r:id="rId9"/>
    <p:sldId id="429" r:id="rId10"/>
    <p:sldId id="432" r:id="rId11"/>
    <p:sldId id="431" r:id="rId12"/>
    <p:sldId id="434" r:id="rId13"/>
    <p:sldId id="442" r:id="rId14"/>
    <p:sldId id="435" r:id="rId15"/>
    <p:sldId id="436" r:id="rId16"/>
    <p:sldId id="443" r:id="rId17"/>
    <p:sldId id="437" r:id="rId18"/>
    <p:sldId id="438" r:id="rId19"/>
    <p:sldId id="439" r:id="rId20"/>
    <p:sldId id="441" r:id="rId21"/>
    <p:sldId id="39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3CF9BF-BC8B-CCE4-D1F9-6F5E4C7F0F52}" v="1175" dt="2026-01-28T19:10:31.991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Finance 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Management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3D77C0-4E8D-6887-9CFB-90D899D2A6BE}"/>
              </a:ext>
            </a:extLst>
          </p:cNvPr>
          <p:cNvSpPr txBox="1"/>
          <p:nvPr/>
        </p:nvSpPr>
        <p:spPr>
          <a:xfrm>
            <a:off x="6426508" y="4198328"/>
            <a:ext cx="5763059" cy="41960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 spc="3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TEAM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– 4</a:t>
            </a:r>
            <a:endParaRPr lang="en-IN" sz="28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chemeClr val="accent3"/>
                </a:solidFill>
                <a:latin typeface="+mj-lt"/>
              </a:rPr>
              <a:t>     </a:t>
            </a:r>
            <a:r>
              <a:rPr lang="en-US" sz="2000" b="1" dirty="0">
                <a:solidFill>
                  <a:schemeClr val="tx2"/>
                </a:solidFill>
                <a:latin typeface="+mj-lt"/>
              </a:rPr>
              <a:t> Ashok </a:t>
            </a:r>
            <a:r>
              <a:rPr lang="en-US" sz="2000" b="1" err="1">
                <a:solidFill>
                  <a:schemeClr val="tx2"/>
                </a:solidFill>
                <a:latin typeface="+mj-lt"/>
              </a:rPr>
              <a:t>kommuru</a:t>
            </a:r>
            <a:r>
              <a:rPr lang="en-US" sz="2000" b="1" dirty="0">
                <a:solidFill>
                  <a:schemeClr val="tx2"/>
                </a:solidFill>
                <a:latin typeface="+mj-lt"/>
              </a:rPr>
              <a:t>  </a:t>
            </a:r>
            <a:endParaRPr lang="en-US" sz="2000" dirty="0">
              <a:solidFill>
                <a:schemeClr val="tx2"/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chemeClr val="tx2"/>
                </a:solidFill>
                <a:latin typeface="+mj-lt"/>
              </a:rPr>
              <a:t>      </a:t>
            </a:r>
            <a:r>
              <a:rPr lang="en-US" sz="2000" b="1" err="1">
                <a:solidFill>
                  <a:schemeClr val="tx2"/>
                </a:solidFill>
                <a:latin typeface="+mj-lt"/>
              </a:rPr>
              <a:t>Deepalakshmi</a:t>
            </a:r>
            <a:endParaRPr lang="en-US" sz="2000">
              <a:solidFill>
                <a:schemeClr val="tx2"/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chemeClr val="tx2"/>
                </a:solidFill>
                <a:latin typeface="+mj-lt"/>
              </a:rPr>
              <a:t>      Deepti Sahu</a:t>
            </a:r>
            <a:endParaRPr lang="en-US" sz="2000" dirty="0">
              <a:solidFill>
                <a:schemeClr val="tx2"/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chemeClr val="tx2"/>
                </a:solidFill>
                <a:latin typeface="+mj-lt"/>
              </a:rPr>
              <a:t>      Sairam </a:t>
            </a:r>
            <a:r>
              <a:rPr lang="en-US" sz="2000" b="1" err="1">
                <a:solidFill>
                  <a:schemeClr val="tx2"/>
                </a:solidFill>
                <a:latin typeface="+mj-lt"/>
              </a:rPr>
              <a:t>Somaraju</a:t>
            </a:r>
            <a:endParaRPr lang="en-US" sz="2000">
              <a:solidFill>
                <a:schemeClr val="tx2"/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chemeClr val="tx2"/>
                </a:solidFill>
                <a:latin typeface="+mj-lt"/>
              </a:rPr>
              <a:t>      Sakthivel</a:t>
            </a:r>
            <a:endParaRPr lang="en-US" sz="2000" dirty="0">
              <a:solidFill>
                <a:schemeClr val="tx2"/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000" dirty="0">
              <a:solidFill>
                <a:srgbClr val="FFFFFF"/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chemeClr val="accent3"/>
                </a:solidFill>
                <a:latin typeface="+mj-lt"/>
              </a:rPr>
              <a:t>      </a:t>
            </a:r>
            <a:endParaRPr lang="en-US" sz="2000" dirty="0">
              <a:solidFill>
                <a:schemeClr val="accent3"/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chemeClr val="accent3"/>
                </a:solidFill>
                <a:latin typeface="+mj-lt"/>
              </a:rPr>
              <a:t>      </a:t>
            </a:r>
            <a:endParaRPr lang="en-US" dirty="0">
              <a:solidFill>
                <a:schemeClr val="accent3"/>
              </a:solidFill>
            </a:endParaRPr>
          </a:p>
          <a:p>
            <a:endParaRPr lang="en-US" sz="28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186347"/>
            <a:ext cx="6901995" cy="3709987"/>
          </a:xfrm>
        </p:spPr>
        <p:txBody>
          <a:bodyPr vert="horz" lIns="0" tIns="457200" rIns="0" bIns="0" rtlCol="0" anchor="t">
            <a:normAutofit/>
          </a:bodyPr>
          <a:lstStyle/>
          <a:p>
            <a:pPr marL="283210" indent="-283210" algn="just"/>
            <a:r>
              <a:rPr lang="en-GB" b="0">
                <a:ea typeface="+mn-lt"/>
                <a:cs typeface="+mn-lt"/>
              </a:rPr>
              <a:t> Finance Management System is a </a:t>
            </a:r>
            <a:r>
              <a:rPr lang="en-GB">
                <a:ea typeface="+mn-lt"/>
                <a:cs typeface="+mn-lt"/>
              </a:rPr>
              <a:t>web-based application</a:t>
            </a:r>
            <a:endParaRPr lang="en-US">
              <a:ea typeface="+mn-lt"/>
              <a:cs typeface="+mn-lt"/>
            </a:endParaRPr>
          </a:p>
          <a:p>
            <a:pPr marL="283210" indent="-283210" algn="just"/>
            <a:r>
              <a:rPr lang="en-GB" b="0">
                <a:ea typeface="+mn-lt"/>
                <a:cs typeface="+mn-lt"/>
              </a:rPr>
              <a:t>Provides </a:t>
            </a:r>
            <a:r>
              <a:rPr lang="en-GB">
                <a:ea typeface="+mn-lt"/>
                <a:cs typeface="+mn-lt"/>
              </a:rPr>
              <a:t>Zero Cost EMI facility</a:t>
            </a:r>
            <a:endParaRPr lang="en-GB"/>
          </a:p>
          <a:p>
            <a:pPr marL="283210" indent="-283210" algn="just"/>
            <a:r>
              <a:rPr lang="en-GB" b="0">
                <a:ea typeface="+mn-lt"/>
                <a:cs typeface="+mn-lt"/>
              </a:rPr>
              <a:t>Users </a:t>
            </a:r>
            <a:r>
              <a:rPr lang="en-GB">
                <a:ea typeface="+mn-lt"/>
                <a:cs typeface="+mn-lt"/>
              </a:rPr>
              <a:t>do not need a credit card</a:t>
            </a:r>
            <a:endParaRPr lang="en-US"/>
          </a:p>
          <a:p>
            <a:pPr marL="283210" indent="-283210" algn="just"/>
            <a:r>
              <a:rPr lang="en-GB" b="0">
                <a:ea typeface="+mn-lt"/>
                <a:cs typeface="+mn-lt"/>
              </a:rPr>
              <a:t>EMI card is issued after </a:t>
            </a:r>
            <a:r>
              <a:rPr lang="en-GB">
                <a:ea typeface="+mn-lt"/>
                <a:cs typeface="+mn-lt"/>
              </a:rPr>
              <a:t>registration &amp; verification</a:t>
            </a:r>
            <a:endParaRPr lang="en-GB"/>
          </a:p>
          <a:p>
            <a:pPr marL="283210" indent="-283210" algn="just"/>
            <a:r>
              <a:rPr lang="en-GB" b="0">
                <a:ea typeface="+mn-lt"/>
                <a:cs typeface="+mn-lt"/>
              </a:rPr>
              <a:t>Admin verifies documents and activates EMI card</a:t>
            </a:r>
            <a:endParaRPr lang="en-GB"/>
          </a:p>
          <a:p>
            <a:pPr marL="283210" indent="-283210" algn="just">
              <a:buNone/>
            </a:pPr>
            <a:endParaRPr lang="en-GB" b="0"/>
          </a:p>
          <a:p>
            <a:pPr marL="0" indent="0" algn="just">
              <a:lnSpc>
                <a:spcPct val="10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A6EBF-A274-662B-B66B-4F3254AC9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F9A15-5B43-BBF4-E969-DD289AC47F7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59" y="2722510"/>
            <a:ext cx="4406497" cy="2679817"/>
          </a:xfrm>
        </p:spPr>
        <p:txBody>
          <a:bodyPr vert="horz" lIns="0" tIns="228600" rIns="0" bIns="0" rtlCol="0" anchor="t">
            <a:normAutofit fontScale="92500" lnSpcReduction="10000"/>
          </a:bodyPr>
          <a:lstStyle/>
          <a:p>
            <a:pPr marL="283210" indent="-283210">
              <a:buNone/>
            </a:pPr>
            <a:r>
              <a:rPr lang="en-US"/>
              <a:t>Existing System Problems</a:t>
            </a:r>
          </a:p>
          <a:p>
            <a:pPr marL="283210" indent="-283210">
              <a:buFont typeface="Arial"/>
              <a:buChar char="•"/>
            </a:pPr>
            <a:r>
              <a:rPr lang="en-US" b="0">
                <a:ea typeface="+mn-lt"/>
                <a:cs typeface="+mn-lt"/>
              </a:rPr>
              <a:t>Credit card mandatory for EMI</a:t>
            </a:r>
            <a:endParaRPr lang="en-US">
              <a:ea typeface="+mn-lt"/>
              <a:cs typeface="+mn-lt"/>
            </a:endParaRPr>
          </a:p>
          <a:p>
            <a:pPr marL="283210" indent="-283210">
              <a:buFont typeface="Arial"/>
              <a:buChar char="•"/>
            </a:pPr>
            <a:r>
              <a:rPr lang="en-US" b="0">
                <a:ea typeface="+mn-lt"/>
                <a:cs typeface="+mn-lt"/>
              </a:rPr>
              <a:t>High interest rates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b="0">
                <a:ea typeface="+mn-lt"/>
                <a:cs typeface="+mn-lt"/>
              </a:rPr>
              <a:t>Limited accessibility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b="0">
                <a:ea typeface="+mn-lt"/>
                <a:cs typeface="+mn-lt"/>
              </a:rPr>
              <a:t>Bank dependency</a:t>
            </a:r>
            <a:endParaRPr lang="en-US"/>
          </a:p>
          <a:p>
            <a:pPr marL="0" indent="0">
              <a:buNone/>
            </a:pPr>
            <a:endParaRPr lang="en-US" b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63413E-DB80-D0C7-0D57-85764F0A8582}"/>
              </a:ext>
            </a:extLst>
          </p:cNvPr>
          <p:cNvSpPr txBox="1">
            <a:spLocks/>
          </p:cNvSpPr>
          <p:nvPr/>
        </p:nvSpPr>
        <p:spPr>
          <a:xfrm>
            <a:off x="4775834" y="2722510"/>
            <a:ext cx="4396972" cy="2822692"/>
          </a:xfrm>
          <a:prstGeom prst="rect">
            <a:avLst/>
          </a:prstGeom>
        </p:spPr>
        <p:txBody>
          <a:bodyPr vert="horz" lIns="0" tIns="228600" rIns="0" bIns="0" rtlCol="0" anchor="t">
            <a:norm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210" indent="-283210">
              <a:buNone/>
            </a:pPr>
            <a:r>
              <a:rPr lang="en-US"/>
              <a:t>Proposed Solution</a:t>
            </a:r>
          </a:p>
          <a:p>
            <a:pPr marL="283210" indent="-283210">
              <a:buFont typeface="Arial"/>
              <a:buChar char="•"/>
            </a:pPr>
            <a:r>
              <a:rPr lang="en-US" b="0">
                <a:ea typeface="+mn-lt"/>
                <a:cs typeface="+mn-lt"/>
              </a:rPr>
              <a:t>EMI </a:t>
            </a:r>
            <a:r>
              <a:rPr lang="en-US" b="0" dirty="0">
                <a:ea typeface="+mn-lt"/>
                <a:cs typeface="+mn-lt"/>
              </a:rPr>
              <a:t>card </a:t>
            </a:r>
            <a:r>
              <a:rPr lang="en-US" b="0">
                <a:ea typeface="+mn-lt"/>
                <a:cs typeface="+mn-lt"/>
              </a:rPr>
              <a:t>issued by company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b="0">
                <a:ea typeface="+mn-lt"/>
                <a:cs typeface="+mn-lt"/>
              </a:rPr>
              <a:t>No interest </a:t>
            </a:r>
            <a:r>
              <a:rPr lang="en-US" b="0" dirty="0">
                <a:ea typeface="+mn-lt"/>
                <a:cs typeface="+mn-lt"/>
              </a:rPr>
              <a:t>EMI</a:t>
            </a:r>
            <a:endParaRPr lang="en-US" dirty="0">
              <a:ea typeface="+mn-lt"/>
              <a:cs typeface="+mn-lt"/>
            </a:endParaRPr>
          </a:p>
          <a:p>
            <a:pPr marL="283210" indent="-283210">
              <a:buFont typeface="Arial"/>
              <a:buChar char="•"/>
            </a:pPr>
            <a:r>
              <a:rPr lang="en-US" b="0">
                <a:ea typeface="+mn-lt"/>
                <a:cs typeface="+mn-lt"/>
              </a:rPr>
              <a:t>Simple eligibility &amp; approval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b="0">
                <a:ea typeface="+mn-lt"/>
                <a:cs typeface="+mn-lt"/>
              </a:rPr>
              <a:t>Centralized admin control</a:t>
            </a:r>
            <a:endParaRPr lang="en-US"/>
          </a:p>
          <a:p>
            <a:pPr marL="283210" indent="-283210"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571064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B9EAF-884C-FFD1-80CA-581E88E2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A8C4FA5-5FD8-14C8-9EB7-860803D85549}"/>
              </a:ext>
            </a:extLst>
          </p:cNvPr>
          <p:cNvSpPr>
            <a:spLocks noGrp="1"/>
          </p:cNvSpPr>
          <p:nvPr/>
        </p:nvSpPr>
        <p:spPr>
          <a:xfrm>
            <a:off x="369178" y="-691822"/>
            <a:ext cx="7936230" cy="138076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/>
              <a:t>Flow Chart</a:t>
            </a:r>
          </a:p>
        </p:txBody>
      </p:sp>
      <p:pic>
        <p:nvPicPr>
          <p:cNvPr id="4" name="Picture 3" descr="A diagram of a program&#10;&#10;AI-generated content may be incorrect.">
            <a:extLst>
              <a:ext uri="{FF2B5EF4-FFF2-40B4-BE49-F238E27FC236}">
                <a16:creationId xmlns:a16="http://schemas.microsoft.com/office/drawing/2014/main" id="{9D164203-474F-BFE4-4ABA-DFC555103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75" y="947738"/>
            <a:ext cx="7924800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300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05-BF69-0FA9-CDA4-F0C2B92B7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B403B-AC88-8AC5-E5F3-A91751F38C3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228600" rIns="0" bIns="0" rtlCol="0" anchor="t">
            <a:normAutofit/>
          </a:bodyPr>
          <a:lstStyle/>
          <a:p>
            <a:pPr marL="283210" indent="-283210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rgbClr val="5D7D40"/>
                </a:solidFill>
                <a:latin typeface="Microsoft Sans Serif"/>
                <a:ea typeface="+mn-lt"/>
                <a:cs typeface="+mn-lt"/>
              </a:rPr>
              <a:t>Fronted(View layer)</a:t>
            </a:r>
            <a:br>
              <a:rPr lang="en-US" sz="2000" b="0">
                <a:latin typeface="Microsoft Sans Serif"/>
                <a:ea typeface="+mn-lt"/>
                <a:cs typeface="+mn-lt"/>
              </a:rPr>
            </a:br>
            <a:r>
              <a:rPr lang="en-US" sz="2000" b="0">
                <a:solidFill>
                  <a:srgbClr val="5D7D40"/>
                </a:solidFill>
                <a:latin typeface="Microsoft Sans Serif"/>
                <a:ea typeface="+mn-lt"/>
                <a:cs typeface="+mn-lt"/>
              </a:rPr>
              <a:t> Razor View Engin(.</a:t>
            </a:r>
            <a:r>
              <a:rPr lang="en-US" sz="2000" b="0" err="1">
                <a:solidFill>
                  <a:srgbClr val="5D7D40"/>
                </a:solidFill>
                <a:latin typeface="Microsoft Sans Serif"/>
                <a:ea typeface="+mn-lt"/>
                <a:cs typeface="+mn-lt"/>
              </a:rPr>
              <a:t>cshtml</a:t>
            </a:r>
            <a:r>
              <a:rPr lang="en-US" sz="2000" b="0">
                <a:solidFill>
                  <a:srgbClr val="5D7D40"/>
                </a:solidFill>
                <a:latin typeface="Microsoft Sans Serif"/>
                <a:ea typeface="+mn-lt"/>
                <a:cs typeface="+mn-lt"/>
              </a:rPr>
              <a:t>)</a:t>
            </a:r>
            <a:br>
              <a:rPr lang="en-US" sz="2000" b="0">
                <a:latin typeface="Microsoft Sans Serif"/>
                <a:ea typeface="+mn-lt"/>
                <a:cs typeface="+mn-lt"/>
              </a:rPr>
            </a:br>
            <a:r>
              <a:rPr lang="en-US" sz="2000" b="0">
                <a:solidFill>
                  <a:srgbClr val="5D7D40"/>
                </a:solidFill>
                <a:latin typeface="Microsoft Sans Serif"/>
                <a:ea typeface="+mn-lt"/>
                <a:cs typeface="+mn-lt"/>
              </a:rPr>
              <a:t> </a:t>
            </a:r>
            <a:r>
              <a:rPr lang="en-US" sz="2000" b="0" err="1">
                <a:solidFill>
                  <a:srgbClr val="5D7D40"/>
                </a:solidFill>
                <a:latin typeface="Microsoft Sans Serif"/>
                <a:ea typeface="+mn-lt"/>
                <a:cs typeface="+mn-lt"/>
              </a:rPr>
              <a:t>css</a:t>
            </a:r>
            <a:r>
              <a:rPr lang="en-US" sz="2000" b="0">
                <a:solidFill>
                  <a:srgbClr val="5D7D40"/>
                </a:solidFill>
                <a:latin typeface="Microsoft Sans Serif"/>
                <a:ea typeface="+mn-lt"/>
                <a:cs typeface="+mn-lt"/>
              </a:rPr>
              <a:t>(for styling)</a:t>
            </a:r>
            <a:endParaRPr lang="en-US" sz="2000" b="0">
              <a:solidFill>
                <a:srgbClr val="5D7D40"/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283210" indent="-283210">
              <a:buFont typeface="Courier New" panose="020B0604020202020204" pitchFamily="34" charset="0"/>
              <a:buChar char="o"/>
            </a:pPr>
            <a:r>
              <a:rPr lang="en-US" sz="2000">
                <a:latin typeface="Microsoft Sans Serif"/>
                <a:ea typeface="+mn-lt"/>
                <a:cs typeface="+mn-lt"/>
              </a:rPr>
              <a:t>Backend</a:t>
            </a:r>
            <a:br>
              <a:rPr lang="en-US" sz="2000" b="0">
                <a:latin typeface="Microsoft Sans Serif"/>
                <a:ea typeface="+mn-lt"/>
                <a:cs typeface="+mn-lt"/>
              </a:rPr>
            </a:br>
            <a:r>
              <a:rPr lang="en-US" sz="2000" b="0">
                <a:latin typeface="Microsoft Sans Serif"/>
                <a:ea typeface="+mn-lt"/>
                <a:cs typeface="+mn-lt"/>
              </a:rPr>
              <a:t> ASP.Net MVC - Handles request routing controllers, and business logic</a:t>
            </a:r>
            <a:br>
              <a:rPr lang="en-US" sz="2000" b="0">
                <a:latin typeface="Microsoft Sans Serif"/>
                <a:ea typeface="+mn-lt"/>
                <a:cs typeface="+mn-lt"/>
              </a:rPr>
            </a:br>
            <a:r>
              <a:rPr lang="en-US" sz="2000" b="0">
                <a:latin typeface="Microsoft Sans Serif"/>
                <a:ea typeface="+mn-lt"/>
                <a:cs typeface="+mn-lt"/>
              </a:rPr>
              <a:t> ASP.NET Web API - used for data communication and api services</a:t>
            </a:r>
            <a:endParaRPr lang="en-US" sz="2000" b="0">
              <a:latin typeface="Microsoft Sans Serif"/>
              <a:ea typeface="Microsoft Sans Serif"/>
              <a:cs typeface="Microsoft Sans Serif"/>
            </a:endParaRPr>
          </a:p>
          <a:p>
            <a:pPr marL="283210" indent="-283210">
              <a:buFont typeface="Courier New" panose="020B0604020202020204" pitchFamily="34" charset="0"/>
              <a:buChar char="o"/>
            </a:pPr>
            <a:r>
              <a:rPr lang="en-US" sz="2000">
                <a:latin typeface="Microsoft Sans Serif"/>
                <a:ea typeface="+mn-lt"/>
                <a:cs typeface="+mn-lt"/>
              </a:rPr>
              <a:t>Databases</a:t>
            </a:r>
            <a:br>
              <a:rPr lang="en-US" sz="2000" b="0">
                <a:latin typeface="Microsoft Sans Serif"/>
                <a:ea typeface="+mn-lt"/>
                <a:cs typeface="+mn-lt"/>
              </a:rPr>
            </a:br>
            <a:r>
              <a:rPr lang="en-US" sz="2000" b="0">
                <a:latin typeface="Microsoft Sans Serif"/>
                <a:ea typeface="+mn-lt"/>
                <a:cs typeface="+mn-lt"/>
              </a:rPr>
              <a:t> Microsoft SQL Server- Store application data</a:t>
            </a:r>
            <a:endParaRPr lang="en-US" sz="2000" b="0">
              <a:latin typeface="Microsoft Sans Serif"/>
            </a:endParaRPr>
          </a:p>
          <a:p>
            <a:pPr marL="283210" indent="-283210">
              <a:buFont typeface="Courier New" panose="020B0604020202020204" pitchFamily="34" charset="0"/>
              <a:buChar char="o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38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AB695-0029-9445-1521-C8A1038875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7709" y="2443843"/>
            <a:ext cx="6787747" cy="3708517"/>
          </a:xfrm>
        </p:spPr>
        <p:txBody>
          <a:bodyPr vert="horz" lIns="0" tIns="228600" rIns="0" bIns="0" rtlCol="0" anchor="t">
            <a:normAutofit/>
          </a:bodyPr>
          <a:lstStyle/>
          <a:p>
            <a:pPr marL="283210" indent="-28321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Data Access</a:t>
            </a:r>
            <a:br>
              <a:rPr lang="en-US" b="0">
                <a:ea typeface="+mn-lt"/>
                <a:cs typeface="+mn-lt"/>
              </a:rPr>
            </a:br>
            <a:r>
              <a:rPr lang="en-US" b="0">
                <a:ea typeface="+mn-lt"/>
                <a:cs typeface="+mn-lt"/>
              </a:rPr>
              <a:t> Entity Frmaework - DB FirstApproch</a:t>
            </a:r>
            <a:endParaRPr lang="en-US">
              <a:ea typeface="+mn-lt"/>
              <a:cs typeface="+mn-lt"/>
            </a:endParaRPr>
          </a:p>
          <a:p>
            <a:pPr marL="283210" indent="-28321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Validation &amp; security</a:t>
            </a:r>
            <a:br>
              <a:rPr lang="en-US" b="0">
                <a:ea typeface="+mn-lt"/>
                <a:cs typeface="+mn-lt"/>
              </a:rPr>
            </a:br>
            <a:r>
              <a:rPr lang="en-US" b="0">
                <a:ea typeface="+mn-lt"/>
                <a:cs typeface="+mn-lt"/>
              </a:rPr>
              <a:t> ModelState Validation - Serverside Validation</a:t>
            </a:r>
            <a:br>
              <a:rPr lang="en-US" b="0">
                <a:ea typeface="+mn-lt"/>
                <a:cs typeface="+mn-lt"/>
              </a:rPr>
            </a:br>
            <a:r>
              <a:rPr lang="en-US" b="0">
                <a:ea typeface="+mn-lt"/>
                <a:cs typeface="+mn-lt"/>
              </a:rPr>
              <a:t> JSON Serialization &amp; Deserilaization - API data exchange</a:t>
            </a:r>
          </a:p>
          <a:p>
            <a:pPr marL="283210" indent="-28321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Tools</a:t>
            </a:r>
            <a:br>
              <a:rPr lang="en-US" b="0">
                <a:ea typeface="+mn-lt"/>
                <a:cs typeface="+mn-lt"/>
              </a:rPr>
            </a:br>
            <a:r>
              <a:rPr lang="en-US" b="0">
                <a:ea typeface="+mn-lt"/>
                <a:cs typeface="+mn-lt"/>
              </a:rPr>
              <a:t> Visual Studio -IDE</a:t>
            </a:r>
            <a:br>
              <a:rPr lang="en-US" b="0">
                <a:ea typeface="+mn-lt"/>
                <a:cs typeface="+mn-lt"/>
              </a:rPr>
            </a:br>
            <a:r>
              <a:rPr lang="en-US" b="0">
                <a:ea typeface="+mn-lt"/>
                <a:cs typeface="+mn-lt"/>
              </a:rPr>
              <a:t> GitHub - Source code management</a:t>
            </a:r>
          </a:p>
        </p:txBody>
      </p:sp>
    </p:spTree>
    <p:extLst>
      <p:ext uri="{BB962C8B-B14F-4D97-AF65-F5344CB8AC3E}">
        <p14:creationId xmlns:p14="http://schemas.microsoft.com/office/powerpoint/2010/main" val="624781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03B6A-47F6-3FA5-7420-11D860C8B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FF36-F36E-60C2-3C28-C2B44D7B5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</a:t>
            </a:r>
            <a:r>
              <a:rPr lang="en-US" dirty="0">
                <a:solidFill>
                  <a:schemeClr val="accent3"/>
                </a:solidFill>
              </a:rPr>
              <a:t>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06BC4-CA74-24D3-1EDB-00734A362D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1059" y="2408185"/>
            <a:ext cx="5940022" cy="3956167"/>
          </a:xfrm>
        </p:spPr>
        <p:txBody>
          <a:bodyPr vert="horz" lIns="0" tIns="228600" rIns="0" bIns="0" rtlCol="0" anchor="t">
            <a:normAutofit fontScale="85000" lnSpcReduction="20000"/>
          </a:bodyPr>
          <a:lstStyle/>
          <a:p>
            <a:pPr marL="283210" indent="-283210">
              <a:buFont typeface="Arial"/>
              <a:buChar char="•"/>
            </a:pPr>
            <a:r>
              <a:rPr lang="en-US" b="0" dirty="0">
                <a:ea typeface="+mn-lt"/>
                <a:cs typeface="+mn-lt"/>
              </a:rPr>
              <a:t>User </a:t>
            </a:r>
            <a:r>
              <a:rPr lang="en-US" b="0">
                <a:ea typeface="+mn-lt"/>
                <a:cs typeface="+mn-lt"/>
              </a:rPr>
              <a:t>opens </a:t>
            </a:r>
            <a:r>
              <a:rPr lang="en-US">
                <a:ea typeface="+mn-lt"/>
                <a:cs typeface="+mn-lt"/>
              </a:rPr>
              <a:t>Register Page</a:t>
            </a:r>
          </a:p>
          <a:p>
            <a:pPr marL="283210" indent="-283210">
              <a:buFont typeface="Arial"/>
              <a:buChar char="•"/>
            </a:pPr>
            <a:r>
              <a:rPr lang="en-US" b="0">
                <a:ea typeface="+mn-lt"/>
                <a:cs typeface="+mn-lt"/>
              </a:rPr>
              <a:t>Enters</a:t>
            </a:r>
            <a:r>
              <a:rPr lang="en-US" b="0" dirty="0">
                <a:ea typeface="+mn-lt"/>
                <a:cs typeface="+mn-lt"/>
              </a:rPr>
              <a:t>: </a:t>
            </a:r>
            <a:endParaRPr lang="en-US" dirty="0">
              <a:ea typeface="+mn-lt"/>
              <a:cs typeface="+mn-lt"/>
            </a:endParaRPr>
          </a:p>
          <a:p>
            <a:pPr lvl="1" indent="-28321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Name, Email, Phone</a:t>
            </a:r>
            <a:endParaRPr lang="en-US" dirty="0"/>
          </a:p>
          <a:p>
            <a:pPr lvl="1" indent="-28321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Username &amp; Password</a:t>
            </a:r>
          </a:p>
          <a:p>
            <a:pPr lvl="1" indent="-28321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Address</a:t>
            </a:r>
            <a:endParaRPr lang="en-US" dirty="0"/>
          </a:p>
          <a:p>
            <a:pPr lvl="1" indent="-28321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Bank details (Account No, </a:t>
            </a:r>
            <a:r>
              <a:rPr lang="en-US" sz="2400" dirty="0">
                <a:ea typeface="+mn-lt"/>
                <a:cs typeface="+mn-lt"/>
              </a:rPr>
              <a:t>IFSC)</a:t>
            </a:r>
            <a:endParaRPr lang="en-US" dirty="0"/>
          </a:p>
          <a:p>
            <a:pPr marL="283210" indent="-28321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Selects Card Type</a:t>
            </a:r>
            <a:endParaRPr lang="en-US"/>
          </a:p>
          <a:p>
            <a:pPr lvl="1" indent="-28321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Gold </a:t>
            </a:r>
            <a:r>
              <a:rPr lang="en-US" dirty="0">
                <a:ea typeface="+mn-lt"/>
                <a:cs typeface="+mn-lt"/>
              </a:rPr>
              <a:t>Card</a:t>
            </a:r>
            <a:endParaRPr lang="en-US" dirty="0"/>
          </a:p>
          <a:p>
            <a:pPr lvl="1" indent="-28321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Titanium Card</a:t>
            </a:r>
            <a:endParaRPr lang="en-US" dirty="0"/>
          </a:p>
          <a:p>
            <a:pPr marL="283210" indent="-283210">
              <a:buFont typeface="Arial"/>
            </a:pPr>
            <a:r>
              <a:rPr lang="en-US">
                <a:ea typeface="+mn-lt"/>
                <a:cs typeface="+mn-lt"/>
              </a:rPr>
              <a:t>Submits registration form</a:t>
            </a:r>
            <a:endParaRPr lang="en-US"/>
          </a:p>
          <a:p>
            <a:pPr marL="283210" indent="-283210">
              <a:buFont typeface="Arial"/>
            </a:pPr>
            <a:r>
              <a:rPr lang="en-US">
                <a:ea typeface="+mn-lt"/>
                <a:cs typeface="+mn-lt"/>
              </a:rPr>
              <a:t> User status = Pending Approval</a:t>
            </a:r>
            <a:endParaRPr lang="en-US"/>
          </a:p>
          <a:p>
            <a:pPr marL="283210" indent="-283210">
              <a:buFont typeface="Arial"/>
            </a:pPr>
            <a:endParaRPr lang="en-US" dirty="0">
              <a:solidFill>
                <a:srgbClr val="5D7D40"/>
              </a:solidFill>
            </a:endParaRPr>
          </a:p>
          <a:p>
            <a:pPr marL="283210" indent="-283210">
              <a:buNone/>
            </a:pPr>
            <a:endParaRPr lang="en-US" dirty="0"/>
          </a:p>
          <a:p>
            <a:pPr marL="0" indent="0">
              <a:buNone/>
            </a:pPr>
            <a:endParaRPr lang="en-US" b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DDA2F4-C4E3-FFCE-77B7-56108CBFE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128" y="990600"/>
            <a:ext cx="7206843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99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3670F-871E-0F1E-1E47-88296F053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5E984-30BD-32DD-BE2B-86774E0D6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</a:t>
            </a:r>
            <a:r>
              <a:rPr lang="en-US" dirty="0">
                <a:solidFill>
                  <a:schemeClr val="accent3"/>
                </a:solidFill>
              </a:rPr>
              <a:t>Login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7D708-FFD2-A9EA-5495-2332A0CA38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59" y="2436760"/>
            <a:ext cx="5378047" cy="3813292"/>
          </a:xfrm>
        </p:spPr>
        <p:txBody>
          <a:bodyPr vert="horz" lIns="0" tIns="228600" rIns="0" bIns="0" rtlCol="0" anchor="t">
            <a:normAutofit fontScale="92500" lnSpcReduction="10000"/>
          </a:bodyPr>
          <a:lstStyle/>
          <a:p>
            <a:pPr marL="283210" indent="-28321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User enters: </a:t>
            </a:r>
            <a:endParaRPr lang="en-US"/>
          </a:p>
          <a:p>
            <a:pPr marL="971550" lvl="1" indent="-285750">
              <a:buFont typeface="Arial"/>
              <a:buChar char="•"/>
            </a:pPr>
            <a:r>
              <a:rPr lang="en-US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Username</a:t>
            </a:r>
            <a:endParaRPr lang="en-US">
              <a:solidFill>
                <a:schemeClr val="tx2">
                  <a:lumMod val="76000"/>
                </a:schemeClr>
              </a:solidFill>
            </a:endParaRPr>
          </a:p>
          <a:p>
            <a:pPr marL="971550" lvl="1" indent="-285750">
              <a:buFont typeface="Arial"/>
              <a:buChar char="•"/>
            </a:pPr>
            <a:r>
              <a:rPr lang="en-US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Password</a:t>
            </a:r>
            <a:endParaRPr lang="en-US" dirty="0">
              <a:solidFill>
                <a:schemeClr val="tx2">
                  <a:lumMod val="76000"/>
                </a:schemeClr>
              </a:solidFill>
            </a:endParaRPr>
          </a:p>
          <a:p>
            <a:pPr marL="283210" indent="-283210">
              <a:buFont typeface="Arial"/>
              <a:buChar char="•"/>
            </a:pPr>
            <a:r>
              <a:rPr lang="en-US" b="0" dirty="0">
                <a:ea typeface="+mn-lt"/>
                <a:cs typeface="+mn-lt"/>
              </a:rPr>
              <a:t>System </a:t>
            </a:r>
            <a:r>
              <a:rPr lang="en-US" b="0">
                <a:ea typeface="+mn-lt"/>
                <a:cs typeface="+mn-lt"/>
              </a:rPr>
              <a:t>validates credentials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Login success: </a:t>
            </a:r>
            <a:endParaRPr lang="en-US"/>
          </a:p>
          <a:p>
            <a:pPr marL="971550" lvl="1" indent="-285750">
              <a:buFont typeface="Arial"/>
              <a:buChar char="•"/>
            </a:pPr>
            <a:r>
              <a:rPr lang="en-US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Redirects to User </a:t>
            </a:r>
            <a:r>
              <a:rPr lang="en-US" b="1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Dashboard</a:t>
            </a:r>
            <a:endParaRPr lang="en-US" dirty="0">
              <a:solidFill>
                <a:schemeClr val="tx2">
                  <a:lumMod val="76000"/>
                </a:schemeClr>
              </a:solidFill>
            </a:endParaRPr>
          </a:p>
          <a:p>
            <a:pPr marL="283210" indent="-28321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Login failure: </a:t>
            </a:r>
            <a:endParaRPr lang="en-US"/>
          </a:p>
          <a:p>
            <a:pPr marL="1028700" lvl="1" indent="-342900"/>
            <a:r>
              <a:rPr lang="en-US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Shows error message</a:t>
            </a:r>
            <a:endParaRPr lang="en-US">
              <a:solidFill>
                <a:schemeClr val="tx2">
                  <a:lumMod val="76000"/>
                </a:schemeClr>
              </a:solidFill>
            </a:endParaRPr>
          </a:p>
          <a:p>
            <a:pPr marL="1028700" lvl="1" indent="-342900"/>
            <a:r>
              <a:rPr lang="en-US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 User can login only after Admin approval</a:t>
            </a:r>
            <a:endParaRPr lang="en-US" dirty="0">
              <a:solidFill>
                <a:schemeClr val="tx2">
                  <a:lumMod val="76000"/>
                </a:schemeClr>
              </a:solidFill>
            </a:endParaRPr>
          </a:p>
          <a:p>
            <a:pPr marL="283210" indent="-283210">
              <a:buNone/>
            </a:pPr>
            <a:endParaRPr lang="en-US" dirty="0"/>
          </a:p>
          <a:p>
            <a:pPr marL="0" indent="0">
              <a:buNone/>
            </a:pPr>
            <a:endParaRPr lang="en-US" b="0"/>
          </a:p>
        </p:txBody>
      </p:sp>
      <p:pic>
        <p:nvPicPr>
          <p:cNvPr id="6" name="Picture 5" descr="A screenshot of a login page&#10;&#10;AI-generated content may be incorrect.">
            <a:extLst>
              <a:ext uri="{FF2B5EF4-FFF2-40B4-BE49-F238E27FC236}">
                <a16:creationId xmlns:a16="http://schemas.microsoft.com/office/drawing/2014/main" id="{7233AAA4-030C-E577-AB56-D3FCBAD94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75" y="1462088"/>
            <a:ext cx="752475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13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52736-3FB6-41A2-299D-37A2E5226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0A61-1893-288C-42ED-3C1FE82F3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</a:t>
            </a:r>
            <a:br>
              <a:rPr lang="en-US" dirty="0"/>
            </a:br>
            <a:r>
              <a:rPr lang="en-US" dirty="0">
                <a:solidFill>
                  <a:schemeClr val="accent3"/>
                </a:solidFill>
              </a:rPr>
              <a:t>Login</a:t>
            </a:r>
            <a:r>
              <a:rPr lang="en-US" dirty="0"/>
              <a:t>/</a:t>
            </a:r>
            <a:r>
              <a:rPr lang="en-US" dirty="0">
                <a:solidFill>
                  <a:schemeClr val="accent3"/>
                </a:solidFill>
              </a:rPr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C9C24-12CD-A8EF-1601-16EB7C409C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27734" y="2379610"/>
            <a:ext cx="6692497" cy="4032367"/>
          </a:xfrm>
        </p:spPr>
        <p:txBody>
          <a:bodyPr vert="horz" lIns="0" tIns="228600" rIns="0" bIns="0" rtlCol="0" anchor="t">
            <a:normAutofit fontScale="77500" lnSpcReduction="20000"/>
          </a:bodyPr>
          <a:lstStyle/>
          <a:p>
            <a:pPr marL="283210" indent="-283210">
              <a:buNone/>
            </a:pPr>
            <a:r>
              <a:rPr lang="en-US"/>
              <a:t>Admin Login</a:t>
            </a:r>
          </a:p>
          <a:p>
            <a:pPr marL="283210" indent="-283210">
              <a:buFont typeface="Arial"/>
              <a:buChar char="•"/>
            </a:pPr>
            <a:r>
              <a:rPr lang="en-US" b="0">
                <a:ea typeface="+mn-lt"/>
                <a:cs typeface="+mn-lt"/>
              </a:rPr>
              <a:t>Admin logs in using admin credentials</a:t>
            </a:r>
            <a:endParaRPr lang="en-US"/>
          </a:p>
          <a:p>
            <a:pPr marL="283210" indent="-283210">
              <a:buNone/>
            </a:pPr>
            <a:r>
              <a:rPr lang="en-US"/>
              <a:t>Admin Dashboard</a:t>
            </a:r>
          </a:p>
          <a:p>
            <a:pPr marL="283210" indent="-283210">
              <a:buNone/>
            </a:pPr>
            <a:r>
              <a:rPr lang="en-US" b="0">
                <a:ea typeface="+mn-lt"/>
                <a:cs typeface="+mn-lt"/>
              </a:rPr>
              <a:t>Admin can: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b="0">
                <a:ea typeface="+mn-lt"/>
                <a:cs typeface="+mn-lt"/>
              </a:rPr>
              <a:t>View all registered users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b="0">
                <a:ea typeface="+mn-lt"/>
                <a:cs typeface="+mn-lt"/>
              </a:rPr>
              <a:t>Verify documents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b="0">
                <a:ea typeface="+mn-lt"/>
                <a:cs typeface="+mn-lt"/>
              </a:rPr>
              <a:t>Activate or reject users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b="0">
                <a:ea typeface="+mn-lt"/>
                <a:cs typeface="+mn-lt"/>
              </a:rPr>
              <a:t>Manage products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b="0">
                <a:ea typeface="+mn-lt"/>
                <a:cs typeface="+mn-lt"/>
              </a:rPr>
              <a:t>Monitor EMI transactions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058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0EDCB-E97F-1240-59CF-7943ACEE0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</a:t>
            </a:r>
            <a:r>
              <a:rPr lang="en-US" dirty="0">
                <a:solidFill>
                  <a:schemeClr val="accent3"/>
                </a:solidFill>
              </a:rPr>
              <a:t>Login</a:t>
            </a:r>
            <a:r>
              <a:rPr lang="en-US" dirty="0"/>
              <a:t>/</a:t>
            </a:r>
            <a:r>
              <a:rPr lang="en-US" dirty="0">
                <a:solidFill>
                  <a:schemeClr val="accent3"/>
                </a:solidFill>
              </a:rPr>
              <a:t>Dashboard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86316A-E2EC-77E2-A9FA-168C724FEC38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6224798" y="3137687"/>
            <a:ext cx="5671927" cy="2979945"/>
          </a:xfrm>
          <a:prstGeom prst="rect">
            <a:avLst/>
          </a:prstGeom>
        </p:spPr>
      </p:pic>
      <p:pic>
        <p:nvPicPr>
          <p:cNvPr id="9" name="Content Placeholder 8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5252541C-3CFB-A12D-21BD-566959BDB38D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594360" y="3129840"/>
            <a:ext cx="5376652" cy="298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254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7F593-8F2D-7C16-17DE-FD0C89241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F6385-DAC0-14BF-84D4-59D9FE131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</a:t>
            </a:r>
            <a:br>
              <a:rPr lang="en-US" dirty="0"/>
            </a:br>
            <a:r>
              <a:rPr lang="en-US" dirty="0"/>
              <a:t>Verification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DF1AB-86BA-DBD2-B27E-249A3A8883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23009" y="2341510"/>
            <a:ext cx="5825722" cy="4327642"/>
          </a:xfrm>
        </p:spPr>
        <p:txBody>
          <a:bodyPr vert="horz" lIns="0" tIns="228600" rIns="0" bIns="0" rtlCol="0" anchor="t">
            <a:normAutofit lnSpcReduction="10000"/>
          </a:bodyPr>
          <a:lstStyle/>
          <a:p>
            <a:pPr marL="283210" indent="-283210">
              <a:buFont typeface="Arial"/>
              <a:buChar char="•"/>
            </a:pPr>
            <a:r>
              <a:rPr lang="en-US" sz="1800" b="0">
                <a:ea typeface="+mn-lt"/>
                <a:cs typeface="+mn-lt"/>
              </a:rPr>
              <a:t>Admin </a:t>
            </a:r>
            <a:r>
              <a:rPr lang="en-US" sz="1800">
                <a:ea typeface="+mn-lt"/>
                <a:cs typeface="+mn-lt"/>
              </a:rPr>
              <a:t>checks user documents</a:t>
            </a:r>
            <a:endParaRPr lang="en-US" sz="1800">
              <a:solidFill>
                <a:srgbClr val="5D7D40"/>
              </a:solidFill>
              <a:ea typeface="+mn-lt"/>
              <a:cs typeface="+mn-lt"/>
            </a:endParaRPr>
          </a:p>
          <a:p>
            <a:pPr marL="283210" indent="-283210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Verifies: </a:t>
            </a:r>
          </a:p>
          <a:p>
            <a:pPr lvl="1" indent="-283210">
              <a:buFont typeface="Arial"/>
              <a:buChar char="•"/>
            </a:pPr>
            <a:r>
              <a:rPr lang="en-US" sz="1800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Identity</a:t>
            </a:r>
            <a:endParaRPr lang="en-US" sz="1800">
              <a:solidFill>
                <a:schemeClr val="tx2">
                  <a:lumMod val="76000"/>
                </a:schemeClr>
              </a:solidFill>
            </a:endParaRPr>
          </a:p>
          <a:p>
            <a:pPr lvl="1" indent="-283210">
              <a:buFont typeface="Arial"/>
              <a:buChar char="•"/>
            </a:pPr>
            <a:r>
              <a:rPr lang="en-US" sz="1800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Bank details</a:t>
            </a:r>
            <a:endParaRPr lang="en-US" sz="1800">
              <a:solidFill>
                <a:schemeClr val="tx2">
                  <a:lumMod val="76000"/>
                </a:schemeClr>
              </a:solidFill>
            </a:endParaRPr>
          </a:p>
          <a:p>
            <a:pPr lvl="1" indent="-283210">
              <a:buFont typeface="Arial"/>
              <a:buChar char="•"/>
            </a:pPr>
            <a:r>
              <a:rPr lang="en-US" sz="1800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Eligibility</a:t>
            </a:r>
            <a:endParaRPr lang="en-US" sz="1800">
              <a:solidFill>
                <a:schemeClr val="tx2">
                  <a:lumMod val="76000"/>
                </a:schemeClr>
              </a:solidFill>
            </a:endParaRPr>
          </a:p>
          <a:p>
            <a:pPr marL="283210" indent="-283210">
              <a:buFont typeface="Arial"/>
              <a:buChar char="•"/>
            </a:pPr>
            <a:r>
              <a:rPr lang="en-US" sz="1800" b="0">
                <a:ea typeface="+mn-lt"/>
                <a:cs typeface="+mn-lt"/>
              </a:rPr>
              <a:t>Activates user account</a:t>
            </a:r>
            <a:endParaRPr lang="en-US" sz="1800"/>
          </a:p>
          <a:p>
            <a:pPr marL="283210" indent="-283210">
              <a:buFont typeface="Arial"/>
            </a:pPr>
            <a:r>
              <a:rPr lang="en-US" sz="1800" b="0">
                <a:ea typeface="+mn-lt"/>
                <a:cs typeface="+mn-lt"/>
              </a:rPr>
              <a:t>EMI card is issued</a:t>
            </a:r>
            <a:endParaRPr lang="en-US" sz="1800" b="0"/>
          </a:p>
          <a:p>
            <a:pPr marL="0" indent="0">
              <a:buNone/>
            </a:pPr>
            <a:r>
              <a:rPr lang="en-US" sz="2000"/>
              <a:t>Card Activation</a:t>
            </a:r>
            <a:endParaRPr lang="en-US" sz="2000" dirty="0">
              <a:solidFill>
                <a:srgbClr val="5D7D40"/>
              </a:solidFill>
            </a:endParaRPr>
          </a:p>
          <a:p>
            <a:pPr marL="283210" indent="-283210">
              <a:buFont typeface="Arial"/>
            </a:pPr>
            <a:r>
              <a:rPr lang="en-US" sz="1800" b="0">
                <a:solidFill>
                  <a:srgbClr val="5D7D40"/>
                </a:solidFill>
                <a:ea typeface="+mn-lt"/>
                <a:cs typeface="+mn-lt"/>
              </a:rPr>
              <a:t>User pays </a:t>
            </a:r>
            <a:r>
              <a:rPr lang="en-US" sz="1800">
                <a:solidFill>
                  <a:srgbClr val="5D7D40"/>
                </a:solidFill>
                <a:ea typeface="+mn-lt"/>
                <a:cs typeface="+mn-lt"/>
              </a:rPr>
              <a:t>joining fee</a:t>
            </a:r>
            <a:endParaRPr lang="en-US" sz="1800"/>
          </a:p>
          <a:p>
            <a:pPr marL="283210" indent="-283210">
              <a:buFont typeface="Arial"/>
            </a:pPr>
            <a:r>
              <a:rPr lang="en-US" sz="1800" b="0">
                <a:solidFill>
                  <a:srgbClr val="5D7D40"/>
                </a:solidFill>
                <a:ea typeface="+mn-lt"/>
                <a:cs typeface="+mn-lt"/>
              </a:rPr>
              <a:t>EMI card becomes active</a:t>
            </a:r>
            <a:endParaRPr lang="en-US" sz="1800"/>
          </a:p>
          <a:p>
            <a:pPr marL="283210" indent="-283210">
              <a:buFont typeface="Arial"/>
            </a:pPr>
            <a:endParaRPr lang="en-US" dirty="0">
              <a:solidFill>
                <a:srgbClr val="5D7D40"/>
              </a:solidFill>
            </a:endParaRPr>
          </a:p>
          <a:p>
            <a:pPr marL="283210" indent="-283210">
              <a:buNone/>
            </a:pPr>
            <a:endParaRPr lang="en-US" dirty="0"/>
          </a:p>
          <a:p>
            <a:pPr marL="0" indent="0">
              <a:buNone/>
            </a:pPr>
            <a:endParaRPr lang="en-US" b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2C3AE4-CC11-EFE1-7466-FDDB75CBB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2463950"/>
            <a:ext cx="7105650" cy="37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38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CFE06-7705-43BE-342D-02C4B4EDE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BDD6E-DA89-CD09-BF63-A01878EE7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EMI</a:t>
            </a:r>
            <a:br>
              <a:rPr lang="en-US" dirty="0"/>
            </a:br>
            <a:r>
              <a:rPr lang="en-US" dirty="0"/>
              <a:t>Card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C8C94-D070-20A9-9F51-676355F66F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27734" y="2379610"/>
            <a:ext cx="6692497" cy="4032367"/>
          </a:xfrm>
        </p:spPr>
        <p:txBody>
          <a:bodyPr vert="horz" lIns="0" tIns="228600" rIns="0" bIns="0" rtlCol="0" anchor="t">
            <a:normAutofit lnSpcReduction="10000"/>
          </a:bodyPr>
          <a:lstStyle/>
          <a:p>
            <a:pPr marL="283210" indent="-283210">
              <a:buFont typeface="Arial"/>
              <a:buChar char="•"/>
            </a:pPr>
            <a:r>
              <a:rPr lang="en-US" b="0">
                <a:ea typeface="+mn-lt"/>
                <a:cs typeface="+mn-lt"/>
              </a:rPr>
              <a:t>Virtual EMI Card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b="0">
                <a:ea typeface="+mn-lt"/>
                <a:cs typeface="+mn-lt"/>
              </a:rPr>
              <a:t>Card Types: </a:t>
            </a:r>
            <a:endParaRPr lang="en-US"/>
          </a:p>
          <a:p>
            <a:pPr marL="971550" lvl="1" indent="-285750">
              <a:buFont typeface="Arial"/>
              <a:buChar char="•"/>
            </a:pPr>
            <a:r>
              <a:rPr lang="en-US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Gold</a:t>
            </a:r>
            <a:endParaRPr lang="en-US" dirty="0">
              <a:solidFill>
                <a:schemeClr val="tx2">
                  <a:lumMod val="76000"/>
                </a:schemeClr>
              </a:solidFill>
            </a:endParaRPr>
          </a:p>
          <a:p>
            <a:pPr marL="971550" lvl="1" indent="-285750">
              <a:buFont typeface="Arial"/>
              <a:buChar char="•"/>
            </a:pPr>
            <a:r>
              <a:rPr lang="en-US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Titanium</a:t>
            </a:r>
            <a:endParaRPr lang="en-US" dirty="0">
              <a:solidFill>
                <a:schemeClr val="tx2">
                  <a:lumMod val="76000"/>
                </a:schemeClr>
              </a:solidFill>
            </a:endParaRPr>
          </a:p>
          <a:p>
            <a:pPr marL="283210" indent="-283210">
              <a:buFont typeface="Arial"/>
              <a:buChar char="•"/>
            </a:pPr>
            <a:r>
              <a:rPr lang="en-US" b="0">
                <a:ea typeface="+mn-lt"/>
                <a:cs typeface="+mn-lt"/>
              </a:rPr>
              <a:t>Card includes</a:t>
            </a:r>
            <a:r>
              <a:rPr lang="en-US" b="0" dirty="0">
                <a:ea typeface="+mn-lt"/>
                <a:cs typeface="+mn-lt"/>
              </a:rPr>
              <a:t>:</a:t>
            </a:r>
            <a:r>
              <a:rPr lang="en-US" b="0">
                <a:ea typeface="+mn-lt"/>
                <a:cs typeface="+mn-lt"/>
              </a:rPr>
              <a:t> </a:t>
            </a:r>
            <a:endParaRPr lang="en-US"/>
          </a:p>
          <a:p>
            <a:pPr marL="971550" lvl="1" indent="-285750">
              <a:buFont typeface="Arial"/>
              <a:buChar char="•"/>
            </a:pPr>
            <a:r>
              <a:rPr lang="en-US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Card Number</a:t>
            </a:r>
            <a:endParaRPr lang="en-US" dirty="0">
              <a:solidFill>
                <a:schemeClr val="tx2">
                  <a:lumMod val="76000"/>
                </a:schemeClr>
              </a:solidFill>
            </a:endParaRPr>
          </a:p>
          <a:p>
            <a:pPr marL="971550" lvl="1" indent="-285750">
              <a:buFont typeface="Arial"/>
              <a:buChar char="•"/>
            </a:pPr>
            <a:r>
              <a:rPr lang="en-US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User Name</a:t>
            </a:r>
            <a:endParaRPr lang="en-US" dirty="0">
              <a:solidFill>
                <a:schemeClr val="tx2">
                  <a:lumMod val="76000"/>
                </a:schemeClr>
              </a:solidFill>
            </a:endParaRPr>
          </a:p>
          <a:p>
            <a:pPr marL="971550" lvl="1" indent="-285750">
              <a:buFont typeface="Arial"/>
              <a:buChar char="•"/>
            </a:pPr>
            <a:r>
              <a:rPr lang="en-US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Validity Period</a:t>
            </a:r>
            <a:endParaRPr lang="en-US" dirty="0">
              <a:solidFill>
                <a:schemeClr val="tx2">
                  <a:lumMod val="76000"/>
                </a:schemeClr>
              </a:solidFill>
            </a:endParaRPr>
          </a:p>
          <a:p>
            <a:pPr marL="971550" lvl="1" indent="-285750">
              <a:buFont typeface="Arial"/>
              <a:buChar char="•"/>
            </a:pPr>
            <a:r>
              <a:rPr lang="en-US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Credit Limit</a:t>
            </a:r>
            <a:endParaRPr lang="en-US">
              <a:solidFill>
                <a:schemeClr val="tx2">
                  <a:lumMod val="76000"/>
                </a:schemeClr>
              </a:solidFill>
              <a:ea typeface="+mn-lt"/>
              <a:cs typeface="+mn-lt"/>
            </a:endParaRPr>
          </a:p>
          <a:p>
            <a:pPr marL="1028700" lvl="1" indent="-342900"/>
            <a:r>
              <a:rPr lang="en-US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Card limit depends on card type</a:t>
            </a:r>
            <a:endParaRPr lang="en-US">
              <a:solidFill>
                <a:schemeClr val="tx2">
                  <a:lumMod val="76000"/>
                </a:schemeClr>
              </a:solidFill>
            </a:endParaRPr>
          </a:p>
          <a:p>
            <a:pPr marL="283210" indent="-28321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085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9DBC3-9D03-481A-62A9-3E2C4C306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EMI Card Details</a:t>
            </a:r>
          </a:p>
        </p:txBody>
      </p:sp>
      <p:pic>
        <p:nvPicPr>
          <p:cNvPr id="5" name="Content Placeholder 4" descr="A screenshot of a card&#10;&#10;AI-generated content may be incorrect.">
            <a:extLst>
              <a:ext uri="{FF2B5EF4-FFF2-40B4-BE49-F238E27FC236}">
                <a16:creationId xmlns:a16="http://schemas.microsoft.com/office/drawing/2014/main" id="{F36272F3-ADBD-D1D9-9A64-0F9D48EF4728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384810" y="3118959"/>
            <a:ext cx="5605252" cy="2988827"/>
          </a:xfrm>
          <a:prstGeom prst="rect">
            <a:avLst/>
          </a:prstGeom>
        </p:spPr>
      </p:pic>
      <p:pic>
        <p:nvPicPr>
          <p:cNvPr id="6" name="Content Placeholder 5" descr="A screenshot of a card&#10;&#10;AI-generated content may be incorrect.">
            <a:extLst>
              <a:ext uri="{FF2B5EF4-FFF2-40B4-BE49-F238E27FC236}">
                <a16:creationId xmlns:a16="http://schemas.microsoft.com/office/drawing/2014/main" id="{8D5D34EC-3720-CFDC-66F5-C6A29E50454E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tretch>
            <a:fillRect/>
          </a:stretch>
        </p:blipFill>
        <p:spPr>
          <a:xfrm>
            <a:off x="6320048" y="3123158"/>
            <a:ext cx="5062327" cy="299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336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0597B-F22B-57A5-9598-B3A8D3D62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2F923-26E6-030B-BBC1-D6D6BD183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List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9AA52-D4E7-A8BD-2D3C-A5223F6A9A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51559" y="2589160"/>
            <a:ext cx="2939647" cy="3298942"/>
          </a:xfrm>
        </p:spPr>
        <p:txBody>
          <a:bodyPr vert="horz" lIns="0" tIns="228600" rIns="0" bIns="0" rtlCol="0" anchor="t">
            <a:normAutofit/>
          </a:bodyPr>
          <a:lstStyle/>
          <a:p>
            <a:pPr marL="0" indent="0">
              <a:buNone/>
            </a:pPr>
            <a:r>
              <a:rPr lang="en-US"/>
              <a:t>Product Module</a:t>
            </a:r>
            <a:endParaRPr lang="en-US" sz="1800">
              <a:ea typeface="+mn-lt"/>
              <a:cs typeface="+mn-lt"/>
            </a:endParaRPr>
          </a:p>
          <a:p>
            <a:pPr marL="283210" indent="-283210">
              <a:buFont typeface="Arial"/>
              <a:buChar char="•"/>
            </a:pPr>
            <a:r>
              <a:rPr lang="en-US" sz="1800" b="0">
                <a:ea typeface="+mn-lt"/>
                <a:cs typeface="+mn-lt"/>
              </a:rPr>
              <a:t>Displays available products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sz="1800" b="0">
                <a:ea typeface="+mn-lt"/>
                <a:cs typeface="+mn-lt"/>
              </a:rPr>
              <a:t>Shows</a:t>
            </a:r>
            <a:r>
              <a:rPr lang="en-US" sz="1800" b="0" dirty="0">
                <a:ea typeface="+mn-lt"/>
                <a:cs typeface="+mn-lt"/>
              </a:rPr>
              <a:t>: </a:t>
            </a:r>
            <a:endParaRPr lang="en-US" b="0" dirty="0">
              <a:ea typeface="+mn-lt"/>
              <a:cs typeface="+mn-lt"/>
            </a:endParaRPr>
          </a:p>
          <a:p>
            <a:pPr lvl="1" indent="-283210">
              <a:buFont typeface="Arial"/>
              <a:buChar char="•"/>
            </a:pPr>
            <a:r>
              <a:rPr lang="en-US" sz="1800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Product image</a:t>
            </a:r>
            <a:endParaRPr lang="en-US">
              <a:solidFill>
                <a:schemeClr val="tx2">
                  <a:lumMod val="76000"/>
                </a:schemeClr>
              </a:solidFill>
            </a:endParaRPr>
          </a:p>
          <a:p>
            <a:pPr lvl="1" indent="-283210">
              <a:buFont typeface="Arial"/>
            </a:pPr>
            <a:r>
              <a:rPr lang="en-US" sz="1800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Description</a:t>
            </a:r>
            <a:endParaRPr lang="en-US">
              <a:solidFill>
                <a:schemeClr val="tx2">
                  <a:lumMod val="76000"/>
                </a:schemeClr>
              </a:solidFill>
            </a:endParaRPr>
          </a:p>
          <a:p>
            <a:pPr lvl="1" indent="-283210">
              <a:buFont typeface="Arial"/>
              <a:buChar char="•"/>
            </a:pPr>
            <a:r>
              <a:rPr lang="en-US" sz="1800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Price</a:t>
            </a:r>
            <a:endParaRPr lang="en-US" dirty="0">
              <a:solidFill>
                <a:schemeClr val="tx2">
                  <a:lumMod val="76000"/>
                </a:schemeClr>
              </a:solidFill>
            </a:endParaRPr>
          </a:p>
          <a:p>
            <a:pPr marL="283210" indent="-283210">
              <a:buFont typeface="Arial"/>
            </a:pPr>
            <a:r>
              <a:rPr lang="en-US" sz="1800" b="0" dirty="0">
                <a:ea typeface="+mn-lt"/>
                <a:cs typeface="+mn-lt"/>
              </a:rPr>
              <a:t>User </a:t>
            </a:r>
            <a:r>
              <a:rPr lang="en-US" sz="1800" b="0">
                <a:ea typeface="+mn-lt"/>
                <a:cs typeface="+mn-lt"/>
              </a:rPr>
              <a:t>clicks </a:t>
            </a:r>
            <a:r>
              <a:rPr lang="en-US" sz="1800">
                <a:ea typeface="+mn-lt"/>
                <a:cs typeface="+mn-lt"/>
              </a:rPr>
              <a:t>Buy Now</a:t>
            </a:r>
            <a:endParaRPr lang="en-US"/>
          </a:p>
          <a:p>
            <a:pPr marL="283210" indent="-283210">
              <a:buFont typeface="Arial"/>
            </a:pPr>
            <a:endParaRPr lang="en-US" sz="1800" dirty="0"/>
          </a:p>
          <a:p>
            <a:pPr marL="283210" indent="-283210">
              <a:buFont typeface="Arial"/>
            </a:pPr>
            <a:endParaRPr lang="en-US" dirty="0">
              <a:solidFill>
                <a:srgbClr val="5D7D40"/>
              </a:solidFill>
            </a:endParaRPr>
          </a:p>
          <a:p>
            <a:pPr marL="283210" indent="-283210">
              <a:buNone/>
            </a:pPr>
            <a:endParaRPr lang="en-US" dirty="0"/>
          </a:p>
          <a:p>
            <a:pPr marL="0" indent="0">
              <a:buNone/>
            </a:pPr>
            <a:endParaRPr lang="en-US" b="0"/>
          </a:p>
        </p:txBody>
      </p:sp>
      <p:pic>
        <p:nvPicPr>
          <p:cNvPr id="8" name="Picture 7" descr="Screenshot of a screenshot of a computer and lg tv&#10;&#10;AI-generated content may be incorrect.">
            <a:extLst>
              <a:ext uri="{FF2B5EF4-FFF2-40B4-BE49-F238E27FC236}">
                <a16:creationId xmlns:a16="http://schemas.microsoft.com/office/drawing/2014/main" id="{465A0C08-2FC7-DB6F-F0A0-63FA9E9AA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5" y="1545446"/>
            <a:ext cx="8048625" cy="422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387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C6523-4154-306F-03CC-352383C12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01370-E512-A634-F491-E9800B35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EMI</a:t>
            </a:r>
            <a:br>
              <a:rPr lang="en-US" dirty="0"/>
            </a:br>
            <a:r>
              <a:rPr lang="en-US" dirty="0"/>
              <a:t>Payment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C105F-B421-FBD2-F802-FC374AED03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27734" y="2379610"/>
            <a:ext cx="6692497" cy="4032367"/>
          </a:xfrm>
        </p:spPr>
        <p:txBody>
          <a:bodyPr vert="horz" lIns="0" tIns="228600" rIns="0" bIns="0" rtlCol="0" anchor="t">
            <a:normAutofit/>
          </a:bodyPr>
          <a:lstStyle/>
          <a:p>
            <a:pPr marL="283210" indent="-283210">
              <a:buFont typeface="Arial"/>
              <a:buChar char="•"/>
            </a:pPr>
            <a:r>
              <a:rPr lang="en-US" sz="2000" b="0">
                <a:ea typeface="+mn-lt"/>
                <a:cs typeface="+mn-lt"/>
              </a:rPr>
              <a:t>User selects </a:t>
            </a:r>
            <a:r>
              <a:rPr lang="en-US" sz="2000" b="0" dirty="0">
                <a:ea typeface="+mn-lt"/>
                <a:cs typeface="+mn-lt"/>
              </a:rPr>
              <a:t>EMI </a:t>
            </a:r>
            <a:r>
              <a:rPr lang="en-US" sz="2000" b="0">
                <a:ea typeface="+mn-lt"/>
                <a:cs typeface="+mn-lt"/>
              </a:rPr>
              <a:t>tenure</a:t>
            </a:r>
            <a:endParaRPr lang="en-US" sz="2000"/>
          </a:p>
          <a:p>
            <a:pPr marL="283210" indent="-283210">
              <a:buFont typeface="Arial"/>
              <a:buChar char="•"/>
            </a:pPr>
            <a:r>
              <a:rPr lang="en-US" sz="2000" b="0">
                <a:ea typeface="+mn-lt"/>
                <a:cs typeface="+mn-lt"/>
              </a:rPr>
              <a:t>Monthly EMI displayed</a:t>
            </a:r>
            <a:endParaRPr lang="en-US" sz="2000" b="0"/>
          </a:p>
          <a:p>
            <a:pPr marL="283210" indent="-283210">
              <a:buFont typeface="Arial"/>
              <a:buChar char="•"/>
            </a:pPr>
            <a:r>
              <a:rPr lang="en-US" sz="2000" b="0">
                <a:ea typeface="+mn-lt"/>
                <a:cs typeface="+mn-lt"/>
              </a:rPr>
              <a:t>User clicks Pay Now</a:t>
            </a:r>
            <a:endParaRPr lang="en-US" sz="2000" b="0"/>
          </a:p>
          <a:p>
            <a:pPr marL="283210" indent="-283210">
              <a:buFont typeface="Arial"/>
              <a:buChar char="•"/>
            </a:pPr>
            <a:r>
              <a:rPr lang="en-US" sz="2000" b="0">
                <a:ea typeface="+mn-lt"/>
                <a:cs typeface="+mn-lt"/>
              </a:rPr>
              <a:t>EMI deducted from card limit</a:t>
            </a:r>
            <a:endParaRPr lang="en-US" sz="2000" b="0"/>
          </a:p>
          <a:p>
            <a:pPr marL="283210" indent="-283210">
              <a:buFont typeface="Arial"/>
              <a:buChar char="•"/>
            </a:pPr>
            <a:r>
              <a:rPr lang="en-US" sz="2000" b="0">
                <a:ea typeface="+mn-lt"/>
                <a:cs typeface="+mn-lt"/>
              </a:rPr>
              <a:t>Payment successful</a:t>
            </a:r>
            <a:endParaRPr lang="en-US" sz="2000" b="0"/>
          </a:p>
          <a:p>
            <a:pPr marL="283210" indent="-28321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Pay button disabled for that month</a:t>
            </a:r>
          </a:p>
          <a:p>
            <a:pPr marL="283210" indent="-28321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 Processing fee added</a:t>
            </a:r>
            <a:endParaRPr lang="en-US" sz="2000"/>
          </a:p>
          <a:p>
            <a:pPr marL="283210" indent="-283210">
              <a:buFont typeface="Arial"/>
            </a:pPr>
            <a:endParaRPr lang="en-US" dirty="0">
              <a:solidFill>
                <a:srgbClr val="5D7D40"/>
              </a:solidFill>
            </a:endParaRPr>
          </a:p>
          <a:p>
            <a:pPr marL="283210" indent="-28321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screenshot of a payment method&#10;&#10;AI-generated content may be incorrect.">
            <a:extLst>
              <a:ext uri="{FF2B5EF4-FFF2-40B4-BE49-F238E27FC236}">
                <a16:creationId xmlns:a16="http://schemas.microsoft.com/office/drawing/2014/main" id="{A43B205E-6DC0-2921-58EF-BF68A28F1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193728"/>
            <a:ext cx="7343775" cy="387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75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4DA81-2C60-13BF-6EFA-0525DC488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50250-868A-5F33-0824-E2123966D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</a:t>
            </a:r>
            <a:br>
              <a:rPr lang="en-US" dirty="0"/>
            </a:br>
            <a:r>
              <a:rPr lang="en-US" dirty="0"/>
              <a:t>Dashboard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6825D-BD3D-4723-7975-FC59D19F596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27734" y="2379610"/>
            <a:ext cx="6692497" cy="4032367"/>
          </a:xfrm>
        </p:spPr>
        <p:txBody>
          <a:bodyPr vert="horz" lIns="0" tIns="228600" rIns="0" bIns="0" rtlCol="0" anchor="t">
            <a:normAutofit lnSpcReduction="10000"/>
          </a:bodyPr>
          <a:lstStyle/>
          <a:p>
            <a:pPr marL="283210" indent="-283210">
              <a:buFont typeface="Arial"/>
              <a:buChar char="•"/>
            </a:pPr>
            <a:r>
              <a:rPr lang="en-US" sz="2000" b="0">
                <a:ea typeface="+mn-lt"/>
                <a:cs typeface="+mn-lt"/>
              </a:rPr>
              <a:t>EMI Card details</a:t>
            </a:r>
            <a:endParaRPr lang="en-US" sz="2000">
              <a:ea typeface="+mn-lt"/>
              <a:cs typeface="+mn-lt"/>
            </a:endParaRPr>
          </a:p>
          <a:p>
            <a:pPr marL="283210" indent="-283210">
              <a:buFont typeface="Arial"/>
              <a:buChar char="•"/>
            </a:pPr>
            <a:r>
              <a:rPr lang="en-US" sz="2000" b="0">
                <a:ea typeface="+mn-lt"/>
                <a:cs typeface="+mn-lt"/>
              </a:rPr>
              <a:t>Total Credit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sz="2000" b="0">
                <a:ea typeface="+mn-lt"/>
                <a:cs typeface="+mn-lt"/>
              </a:rPr>
              <a:t>Used Credit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sz="2000" b="0">
                <a:ea typeface="+mn-lt"/>
                <a:cs typeface="+mn-lt"/>
              </a:rPr>
              <a:t>Remaining Balance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sz="2000" b="0">
                <a:ea typeface="+mn-lt"/>
                <a:cs typeface="+mn-lt"/>
              </a:rPr>
              <a:t>Purchased products list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sz="2000" b="0" dirty="0">
                <a:ea typeface="+mn-lt"/>
                <a:cs typeface="+mn-lt"/>
              </a:rPr>
              <a:t>EMI </a:t>
            </a:r>
            <a:r>
              <a:rPr lang="en-US" sz="2000" b="0">
                <a:ea typeface="+mn-lt"/>
                <a:cs typeface="+mn-lt"/>
              </a:rPr>
              <a:t>payment history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sz="2000" b="0">
                <a:ea typeface="+mn-lt"/>
                <a:cs typeface="+mn-lt"/>
              </a:rPr>
              <a:t>Upcoming EMI details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Complete user financial tracking</a:t>
            </a:r>
            <a:endParaRPr lang="en-US"/>
          </a:p>
          <a:p>
            <a:pPr marL="283210" indent="-283210">
              <a:buFont typeface="Arial"/>
              <a:buChar char="•"/>
            </a:pPr>
            <a:endParaRPr lang="en-US" sz="2000" b="0" dirty="0"/>
          </a:p>
          <a:p>
            <a:pPr marL="283210" indent="-283210">
              <a:buFont typeface="Arial"/>
            </a:pPr>
            <a:endParaRPr lang="en-US" dirty="0">
              <a:solidFill>
                <a:srgbClr val="5D7D40"/>
              </a:solidFill>
            </a:endParaRPr>
          </a:p>
          <a:p>
            <a:pPr marL="283210" indent="-28321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F2437C-8CA1-5889-F11F-A293A2315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550" y="1909611"/>
            <a:ext cx="7410450" cy="401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68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99B5E-1A0A-B0CF-DAD2-2B9BDE19B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BAF68-DB82-97DD-0A05-715E901A0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A55BD2-B324-77E4-D3A8-3190AB3F9F44}"/>
              </a:ext>
            </a:extLst>
          </p:cNvPr>
          <p:cNvSpPr txBox="1">
            <a:spLocks/>
          </p:cNvSpPr>
          <p:nvPr/>
        </p:nvSpPr>
        <p:spPr>
          <a:xfrm>
            <a:off x="594359" y="2570109"/>
            <a:ext cx="4177897" cy="2946517"/>
          </a:xfrm>
          <a:prstGeom prst="rect">
            <a:avLst/>
          </a:prstGeom>
        </p:spPr>
        <p:txBody>
          <a:bodyPr vert="horz" lIns="0" tIns="228600" rIns="0" bIns="0" rtlCol="0" anchor="t">
            <a:normAutofit/>
          </a:bodyPr>
          <a:lstStyle>
            <a:defPPr>
              <a:defRPr lang="en-US"/>
            </a:defPPr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210" indent="-28321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Secure EMI system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User friendly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No cost EMI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Admin controlled approvals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283210" indent="-283210">
              <a:buFont typeface="Arial"/>
              <a:buChar char="•"/>
            </a:pPr>
            <a:endParaRPr lang="en-US" dirty="0"/>
          </a:p>
          <a:p>
            <a:pPr marL="283210" indent="-283210">
              <a:buFont typeface="Arial"/>
              <a:buChar char="•"/>
            </a:pPr>
            <a:endParaRPr lang="en-US" sz="2000" b="0"/>
          </a:p>
          <a:p>
            <a:pPr marL="283210" indent="-283210">
              <a:buFont typeface="Arial"/>
              <a:buChar char="•"/>
            </a:pPr>
            <a:endParaRPr lang="en-US" sz="2000" b="0"/>
          </a:p>
          <a:p>
            <a:pPr marL="283210" indent="-283210">
              <a:buFont typeface="Arial"/>
              <a:buChar char="•"/>
            </a:pPr>
            <a:endParaRPr lang="en-US">
              <a:solidFill>
                <a:srgbClr val="5D7D40"/>
              </a:solidFill>
            </a:endParaRPr>
          </a:p>
          <a:p>
            <a:pPr marL="283210" indent="-28321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39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21</TotalTime>
  <Words>489</Words>
  <Application>Microsoft Office PowerPoint</Application>
  <PresentationFormat>Widescreen</PresentationFormat>
  <Paragraphs>115</Paragraphs>
  <Slides>18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Custom</vt:lpstr>
      <vt:lpstr>Finance  Management System</vt:lpstr>
      <vt:lpstr>Overview</vt:lpstr>
      <vt:lpstr>Problem Statement</vt:lpstr>
      <vt:lpstr>PowerPoint Presentation</vt:lpstr>
      <vt:lpstr>Technologies Used</vt:lpstr>
      <vt:lpstr>PowerPoint Presentation</vt:lpstr>
      <vt:lpstr>User Register</vt:lpstr>
      <vt:lpstr>User Login</vt:lpstr>
      <vt:lpstr>Admin  Login/Dashboard</vt:lpstr>
      <vt:lpstr>Admin Login/Dashboard</vt:lpstr>
      <vt:lpstr>Admin Verification process</vt:lpstr>
      <vt:lpstr>EMI Card Feature</vt:lpstr>
      <vt:lpstr>EMI Card Details</vt:lpstr>
      <vt:lpstr>Product List </vt:lpstr>
      <vt:lpstr>EMI Payment Flow</vt:lpstr>
      <vt:lpstr>User Dashboard Features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h y l u</dc:creator>
  <cp:lastModifiedBy>s h y l u</cp:lastModifiedBy>
  <cp:revision>629</cp:revision>
  <dcterms:created xsi:type="dcterms:W3CDTF">2026-01-28T16:00:00Z</dcterms:created>
  <dcterms:modified xsi:type="dcterms:W3CDTF">2026-01-28T19:12:02Z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